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893db88-886d-a4c8-3542-02d4d2d0876e}">
          <p14:sldIdLst>
            <p14:sldId id="256"/>
          </p14:sldIdLst>
        </p14:section>
        <p14:section name="Concept" id="{f2782e30-8bf8-c494-05f0-8a08fcfbadac}">
          <p14:sldIdLst>
            <p14:sldId id="257"/>
            <p14:sldId id="258"/>
          </p14:sldIdLst>
        </p14:section>
        <p14:section name="Example" id="{9b46977d-9417-b170-c3bc-9c2df0324871}">
          <p14:sldIdLst>
            <p14:sldId id="259"/>
          </p14:sldIdLst>
        </p14:section>
        <p14:section name="Analysis" id="{76688606-3c5b-8188-c1c2-301e89371da8}">
          <p14:sldIdLst>
            <p14:sldId id="260"/>
            <p14:sldId id="261"/>
            <p14:sldId id="262"/>
          </p14:sldIdLst>
        </p14:section>
        <p14:section name="Closing" id="{18f9f634-4329-3ec6-5a89-4829e494798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 ever wondered how Google Maps finds the shortest route to your destination? The answer is Dijkstra's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Dijkstra's algorithm, proposed by Edsger Dijkstra in 1956, finds the shortest path from one source vertex to every other vertex in a weighted graph. It works when all edge weights are non-negative, and it uses a greedy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set the source distance to zero and all others to infinity. Next, pick the unvisited vertex with the smallest distance. Then relax its neighbors: if going through this vertex gives a shorter path, update the distance. Repeat until every vertex is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source A. The distance to C is 2. To reach B, going through C costs 3, which beats the direct edge of 4. D is then 8 and E is 11. So the shortest path from A to E is A, C, B, D,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simple array it takes O of V squared. With a priority queue built on a binary heap, it takes O of V plus E times log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powers GPS navigation, network routing and game pathfinding.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fails with negative edge weights, where Bellman-Ford should be used instead. Thanks for watching!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Generated using Claude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DESIGN AND ANALYSIS OF ALGORITHMS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Dijkstra’s Algorithm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Single-source shortest paths in weighted graphs</a:t>
            </a:r>
            <a:endParaRPr lang="en-US" sz="2000" dirty="0"/>
          </a:p>
        </p:txBody>
      </p:sp>
      <p:sp>
        <p:nvSpPr>
          <p:cNvPr id="5" name="Credit pill"/>
          <p:cNvSpPr/>
          <p:nvPr/>
        </p:nvSpPr>
        <p:spPr>
          <a:xfrm>
            <a:off x="548640" y="2423160"/>
            <a:ext cx="233172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Generated using </a:t>
            </a:r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Claude</a:t>
            </a:r>
            <a:endParaRPr lang="en-US" sz="1400" dirty="0"/>
          </a:p>
        </p:txBody>
      </p:sp>
      <p:pic>
        <p:nvPicPr>
          <p:cNvPr id="7" name="Map route illustration" descr="/tmp/claude-0/-home-claude/d0f99324-c297-5b08-8ff2-7a40de835154/scratchpad/dijkstra/ppt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78638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it is</a:t>
            </a:r>
            <a:endParaRPr lang="en-US" sz="3200" dirty="0"/>
          </a:p>
        </p:txBody>
      </p:sp>
      <p:sp>
        <p:nvSpPr>
          <p:cNvPr id="3" name="Icon circl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16736"/>
            <a:ext cx="246888" cy="246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Who &amp; when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Proposed by Edsger W. Dijkstra in 1956</a:t>
            </a:r>
            <a:endParaRPr lang="en-US" sz="1200" dirty="0"/>
          </a:p>
        </p:txBody>
      </p:sp>
      <p:sp>
        <p:nvSpPr>
          <p:cNvPr id="6" name="Icon circle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18541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Goal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Shortest path from one source to every other vertex</a:t>
            </a:r>
            <a:endParaRPr lang="en-US" sz="1200" dirty="0"/>
          </a:p>
        </p:txBody>
      </p:sp>
      <p:sp>
        <p:nvSpPr>
          <p:cNvPr id="9" name="Icon circle 3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0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05409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Requirement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 edge weights must be non-negative</a:t>
            </a:r>
            <a:endParaRPr lang="en-US" sz="1200" dirty="0"/>
          </a:p>
        </p:txBody>
      </p:sp>
      <p:sp>
        <p:nvSpPr>
          <p:cNvPr id="12" name="Icon circle 4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922776"/>
            <a:ext cx="246888" cy="2468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Strategy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Greedy: always settle the closest unvisited vertex</a:t>
            </a:r>
            <a:endParaRPr lang="en-US" sz="1200" dirty="0"/>
          </a:p>
        </p:txBody>
      </p:sp>
      <p:pic>
        <p:nvPicPr>
          <p:cNvPr id="15" name="Example weighted graph" descr="/tmp/claude-0/-home-claude/d0f99324-c297-5b08-8ff2-7a40de835154/scratchpad/dijkstra/ppt/grap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097280"/>
            <a:ext cx="4023360" cy="235915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66344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The example graph used in this deck: 5 vertices, 7 undirected edges, all weights ≥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Step number 1"/>
          <p:cNvSpPr/>
          <p:nvPr/>
        </p:nvSpPr>
        <p:spPr>
          <a:xfrm>
            <a:off x="457200" y="11704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Initialize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dist[source] = 0, all others = ∞</a:t>
            </a:r>
            <a:endParaRPr lang="en-US" sz="1700" dirty="0"/>
          </a:p>
        </p:txBody>
      </p:sp>
      <p:sp>
        <p:nvSpPr>
          <p:cNvPr id="6" name="Step number 2"/>
          <p:cNvSpPr/>
          <p:nvPr/>
        </p:nvSpPr>
        <p:spPr>
          <a:xfrm>
            <a:off x="457200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83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Pick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unvisited vertex u with the smallest dist</a:t>
            </a:r>
            <a:endParaRPr lang="en-US" sz="1700" dirty="0"/>
          </a:p>
        </p:txBody>
      </p:sp>
      <p:sp>
        <p:nvSpPr>
          <p:cNvPr id="9" name="Step number 3"/>
          <p:cNvSpPr/>
          <p:nvPr/>
        </p:nvSpPr>
        <p:spPr>
          <a:xfrm>
            <a:off x="45720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Relax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if dist[u] + w(u,v) &lt; dist[v], update v</a:t>
            </a:r>
            <a:endParaRPr lang="en-US" sz="1700" dirty="0"/>
          </a:p>
        </p:txBody>
      </p:sp>
      <p:sp>
        <p:nvSpPr>
          <p:cNvPr id="12" name="Step number 4"/>
          <p:cNvSpPr/>
          <p:nvPr/>
        </p:nvSpPr>
        <p:spPr>
          <a:xfrm>
            <a:off x="457200" y="32278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154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Mark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 as visited; its distance is final</a:t>
            </a:r>
            <a:endParaRPr lang="en-US" sz="1700" dirty="0"/>
          </a:p>
        </p:txBody>
      </p:sp>
      <p:sp>
        <p:nvSpPr>
          <p:cNvPr id="15" name="Step number 5"/>
          <p:cNvSpPr/>
          <p:nvPr/>
        </p:nvSpPr>
        <p:spPr>
          <a:xfrm>
            <a:off x="457200" y="39136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Repeat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steps 2–4 until all vertices are visited</a:t>
            </a:r>
            <a:endParaRPr lang="en-US" sz="1700" dirty="0"/>
          </a:p>
        </p:txBody>
      </p:sp>
      <p:sp>
        <p:nvSpPr>
          <p:cNvPr id="18" name="Pseudocode card"/>
          <p:cNvSpPr/>
          <p:nvPr/>
        </p:nvSpPr>
        <p:spPr>
          <a:xfrm>
            <a:off x="5074920" y="1097280"/>
            <a:ext cx="361188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5544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DIJKSTRA(G, w, 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 in G.V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d[v] ← ∞;  π[v] ← NIL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d[s] ←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← G.V    // min-priority queue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≠ ∅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← EXTRACT-MIN(Q)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v in Adj[u]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d[u] + w(u,v) &lt; d[v]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d[v] ← d[u] + w(u,v)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π[v] ← 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Worked example: source A</a:t>
            </a:r>
            <a:endParaRPr lang="en-US" sz="3200" dirty="0"/>
          </a:p>
        </p:txBody>
      </p:sp>
      <p:pic>
        <p:nvPicPr>
          <p:cNvPr id="3" name="Solved graph with shortest path" descr="/tmp/claude-0/-home-claude/d0f99324-c297-5b08-8ff2-7a40de835154/scratchpad/dijkstra/ppt/sol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291840" cy="199339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051560"/>
          <a:ext cx="46177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640080"/>
                <a:gridCol w="658368"/>
                <a:gridCol w="658368"/>
                <a:gridCol w="658368"/>
                <a:gridCol w="658368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069080" y="34930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Highlighted = distance improved in that step. B drops from 4 to 3 because A→C→B (2 + 1) beats the direct edge A→B (4).</a:t>
            </a:r>
            <a:endParaRPr lang="en-US" sz="1300" dirty="0"/>
          </a:p>
        </p:txBody>
      </p:sp>
      <p:sp>
        <p:nvSpPr>
          <p:cNvPr id="6" name="Path result pill"/>
          <p:cNvSpPr/>
          <p:nvPr/>
        </p:nvSpPr>
        <p:spPr>
          <a:xfrm>
            <a:off x="457200" y="3657600"/>
            <a:ext cx="3291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C → B → D → E  ·  total 11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Time complexity</a:t>
            </a:r>
            <a:endParaRPr lang="en-US" sz="3200" dirty="0"/>
          </a:p>
        </p:txBody>
      </p:sp>
      <p:sp>
        <p:nvSpPr>
          <p:cNvPr id="3" name="Complexity card 1"/>
          <p:cNvSpPr/>
          <p:nvPr/>
        </p:nvSpPr>
        <p:spPr>
          <a:xfrm>
            <a:off x="457200" y="1097280"/>
            <a:ext cx="402336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SIMPLE ARRAY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O(V²)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Finding the minimum scans all V entries, and that happens V times. Good for dense graphs.</a:t>
            </a:r>
            <a:endParaRPr lang="en-US" sz="1400" dirty="0"/>
          </a:p>
        </p:txBody>
      </p:sp>
      <p:sp>
        <p:nvSpPr>
          <p:cNvPr id="7" name="Complexity card 2"/>
          <p:cNvSpPr/>
          <p:nvPr/>
        </p:nvSpPr>
        <p:spPr>
          <a:xfrm>
            <a:off x="4663440" y="1097280"/>
            <a:ext cx="402336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BINARY HEAP (PRIORITY QUEUE)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O((V+E) log V)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560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extract-min and each decrease-key costs O(log V). Good for sparse graphs.</a:t>
            </a:r>
            <a:endParaRPr lang="en-US" sz="1400" dirty="0"/>
          </a:p>
        </p:txBody>
      </p:sp>
      <p:sp>
        <p:nvSpPr>
          <p:cNvPr id="11" name="Fact 1"/>
          <p:cNvSpPr/>
          <p:nvPr/>
        </p:nvSpPr>
        <p:spPr>
          <a:xfrm>
            <a:off x="457200" y="374904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Fibonacci heap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O(E + V log V)</a:t>
            </a:r>
            <a:endParaRPr lang="en-US" sz="1200" dirty="0"/>
          </a:p>
        </p:txBody>
      </p:sp>
      <p:sp>
        <p:nvSpPr>
          <p:cNvPr id="13" name="Fact 2"/>
          <p:cNvSpPr/>
          <p:nvPr/>
        </p:nvSpPr>
        <p:spPr>
          <a:xfrm>
            <a:off x="3264408" y="374904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Extra space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O(V)</a:t>
            </a:r>
            <a:endParaRPr lang="en-US" sz="1200" dirty="0"/>
          </a:p>
        </p:txBody>
      </p:sp>
      <p:sp>
        <p:nvSpPr>
          <p:cNvPr id="15" name="Fact 3"/>
          <p:cNvSpPr/>
          <p:nvPr/>
        </p:nvSpPr>
        <p:spPr>
          <a:xfrm>
            <a:off x="6071616" y="374904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Notation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 = vertices, E = edges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Where it is used</a:t>
            </a:r>
            <a:endParaRPr lang="en-US" sz="3200" dirty="0"/>
          </a:p>
        </p:txBody>
      </p:sp>
      <p:sp>
        <p:nvSpPr>
          <p:cNvPr id="3" name="Application card 1"/>
          <p:cNvSpPr/>
          <p:nvPr/>
        </p:nvSpPr>
        <p:spPr>
          <a:xfrm>
            <a:off x="457200" y="1143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App icon circle 1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Ap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GPS navigation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Intersections are vertices and roads are edges weighted by distance or travel time.</a:t>
            </a:r>
            <a:endParaRPr lang="en-US" sz="1400" dirty="0"/>
          </a:p>
        </p:txBody>
      </p:sp>
      <p:sp>
        <p:nvSpPr>
          <p:cNvPr id="8" name="Application card 2"/>
          <p:cNvSpPr/>
          <p:nvPr/>
        </p:nvSpPr>
        <p:spPr>
          <a:xfrm>
            <a:off x="3264408" y="1143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pp icon circle 2"/>
          <p:cNvSpPr/>
          <p:nvPr/>
        </p:nvSpPr>
        <p:spPr>
          <a:xfrm>
            <a:off x="3538728" y="141732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0" name="Ap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600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Network routing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Link-state protocols such as OSPF run Dijkstra to build each router’s shortest-path tree.</a:t>
            </a:r>
            <a:endParaRPr lang="en-US" sz="1400" dirty="0"/>
          </a:p>
        </p:txBody>
      </p:sp>
      <p:sp>
        <p:nvSpPr>
          <p:cNvPr id="13" name="Application card 3"/>
          <p:cNvSpPr/>
          <p:nvPr/>
        </p:nvSpPr>
        <p:spPr>
          <a:xfrm>
            <a:off x="6071616" y="1143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pp icon circle 3"/>
          <p:cNvSpPr/>
          <p:nvPr/>
        </p:nvSpPr>
        <p:spPr>
          <a:xfrm>
            <a:off x="6345936" y="141732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5" name="Ap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600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Game pathfinding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Grid maps for NPC movement. A* is Dijkstra plus a heuristic toward the goal.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Limitation: negative edge weights</a:t>
            </a:r>
            <a:endParaRPr lang="en-US" sz="3200" dirty="0"/>
          </a:p>
        </p:txBody>
      </p:sp>
      <p:pic>
        <p:nvPicPr>
          <p:cNvPr id="3" name="Negative weight counterexample" descr="/tmp/claude-0/-home-claude/d0f99324-c297-5b08-8ff2-7a40de835154/scratchpad/dijkstra/ppt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1892808"/>
          </a:xfrm>
          <a:prstGeom prst="rect">
            <a:avLst/>
          </a:prstGeom>
        </p:spPr>
      </p:pic>
      <p:sp>
        <p:nvSpPr>
          <p:cNvPr id="4" name="Why card"/>
          <p:cNvSpPr/>
          <p:nvPr/>
        </p:nvSpPr>
        <p:spPr>
          <a:xfrm>
            <a:off x="457200" y="31546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WHY IT FAILS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5844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X is settled at distance 1. The edge Y→X of weight −5 is seen later and gives 4 − 5 = −1, but X is already final.</a:t>
            </a:r>
            <a:endParaRPr lang="en-US" sz="1400" dirty="0"/>
          </a:p>
        </p:txBody>
      </p:sp>
      <p:sp>
        <p:nvSpPr>
          <p:cNvPr id="7" name="Alternative card"/>
          <p:cNvSpPr/>
          <p:nvPr/>
        </p:nvSpPr>
        <p:spPr>
          <a:xfrm>
            <a:off x="4663440" y="31546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 INSTEAD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5844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Bellman-Ford · O(V·E)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Handles negative edges and detects negative cycles.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DIJKSTRA’S ALGORITHM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Greedy · non-negative weights · O((V+E) log V) with a binary heap</a:t>
            </a:r>
            <a:endParaRPr lang="en-US" sz="1800" dirty="0"/>
          </a:p>
        </p:txBody>
      </p:sp>
      <p:sp>
        <p:nvSpPr>
          <p:cNvPr id="5" name="Credit pill"/>
          <p:cNvSpPr/>
          <p:nvPr/>
        </p:nvSpPr>
        <p:spPr>
          <a:xfrm>
            <a:off x="548640" y="3291840"/>
            <a:ext cx="310896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Generated using 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Claude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Companion video: dijkstra.mp4 (2:00, narrated)</a:t>
            </a:r>
            <a:endParaRPr lang="en-US" sz="13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 Midnight">
  <a:themeElements>
    <a:clrScheme name="Dijkstra Midnight">
      <a:dk1>
        <a:srgbClr val="0B1330"/>
      </a:dk1>
      <a:lt1>
        <a:srgbClr val="F2F4FA"/>
      </a:lt1>
      <a:dk2>
        <a:srgbClr val="142049"/>
      </a:dk2>
      <a:lt2>
        <a:srgbClr val="B4BEDD"/>
      </a:lt2>
      <a:accent1>
        <a:srgbClr val="FFB547"/>
      </a:accent1>
      <a:accent2>
        <a:srgbClr val="5BC0EB"/>
      </a:accent2>
      <a:accent3>
        <a:srgbClr val="FF6B5E"/>
      </a:accent3>
      <a:accent4>
        <a:srgbClr val="2A3F7A"/>
      </a:accent4>
      <a:accent5>
        <a:srgbClr val="7E93D1"/>
      </a:accent5>
      <a:accent6>
        <a:srgbClr val="6B4A12"/>
      </a:accent6>
      <a:hlink>
        <a:srgbClr val="FFB547"/>
      </a:hlink>
      <a:folHlink>
        <a:srgbClr val="B4BEDD"/>
      </a:folHlink>
    </a:clrScheme>
    <a:fontScheme name="Dijkstra Mid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Design and Analysis of Algorithms</dc:subject>
  <dc:creator>Generated using Claude</dc:creator>
  <cp:lastModifiedBy>Generated using Claude</cp:lastModifiedBy>
  <cp:revision>1</cp:revision>
  <dcterms:created xsi:type="dcterms:W3CDTF">2026-10-18T18:27:53Z</dcterms:created>
  <dcterms:modified xsi:type="dcterms:W3CDTF">2026-10-18T18:27:53Z</dcterms:modified>
</cp:coreProperties>
</file>